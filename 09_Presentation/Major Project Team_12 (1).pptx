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3" r:id="rId2"/>
    <p:sldId id="291" r:id="rId3"/>
    <p:sldId id="298" r:id="rId4"/>
    <p:sldId id="267" r:id="rId5"/>
    <p:sldId id="300" r:id="rId6"/>
    <p:sldId id="307" r:id="rId7"/>
    <p:sldId id="283" r:id="rId8"/>
    <p:sldId id="306" r:id="rId9"/>
    <p:sldId id="304" r:id="rId10"/>
    <p:sldId id="305" r:id="rId11"/>
    <p:sldId id="284" r:id="rId12"/>
    <p:sldId id="287" r:id="rId13"/>
  </p:sldIdLst>
  <p:sldSz cx="12192000" cy="6858000"/>
  <p:notesSz cx="6858000" cy="9144000"/>
  <p:embeddedFontLst>
    <p:embeddedFont>
      <p:font typeface="Palatino Linotype" panose="02040502050505030304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4EC804-DB8C-45BD-AFF3-B8A22D889B5D}">
  <a:tblStyle styleId="{084EC804-DB8C-45BD-AFF3-B8A22D889B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8E51B35D-EC22-E0E4-14B2-CCB474C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>
            <a:extLst>
              <a:ext uri="{FF2B5EF4-FFF2-40B4-BE49-F238E27FC236}">
                <a16:creationId xmlns:a16="http://schemas.microsoft.com/office/drawing/2014/main" id="{26B01280-0FC4-358D-1D0B-8CD6F9117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>
            <a:extLst>
              <a:ext uri="{FF2B5EF4-FFF2-40B4-BE49-F238E27FC236}">
                <a16:creationId xmlns:a16="http://schemas.microsoft.com/office/drawing/2014/main" id="{EE82569E-B203-1999-A535-F51650E7C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59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4236239B-5B20-024A-7C2D-90663199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>
            <a:extLst>
              <a:ext uri="{FF2B5EF4-FFF2-40B4-BE49-F238E27FC236}">
                <a16:creationId xmlns:a16="http://schemas.microsoft.com/office/drawing/2014/main" id="{E1D9CC91-2AA5-E784-58A5-BC106E685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4:notes">
            <a:extLst>
              <a:ext uri="{FF2B5EF4-FFF2-40B4-BE49-F238E27FC236}">
                <a16:creationId xmlns:a16="http://schemas.microsoft.com/office/drawing/2014/main" id="{7C8C9F49-D5C1-1E8C-3C11-7AFBEB5ED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12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>
          <a:extLst>
            <a:ext uri="{FF2B5EF4-FFF2-40B4-BE49-F238E27FC236}">
              <a16:creationId xmlns:a16="http://schemas.microsoft.com/office/drawing/2014/main" id="{22BC87F9-28D2-1941-1F74-4C313D81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>
            <a:extLst>
              <a:ext uri="{FF2B5EF4-FFF2-40B4-BE49-F238E27FC236}">
                <a16:creationId xmlns:a16="http://schemas.microsoft.com/office/drawing/2014/main" id="{355A03BE-FF4A-9468-9BB8-B0A0E11D1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5:notes">
            <a:extLst>
              <a:ext uri="{FF2B5EF4-FFF2-40B4-BE49-F238E27FC236}">
                <a16:creationId xmlns:a16="http://schemas.microsoft.com/office/drawing/2014/main" id="{C611865A-C076-B715-1286-25B29B63B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8161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>
          <a:extLst>
            <a:ext uri="{FF2B5EF4-FFF2-40B4-BE49-F238E27FC236}">
              <a16:creationId xmlns:a16="http://schemas.microsoft.com/office/drawing/2014/main" id="{B58D65B3-BC10-6408-3D51-F9471D7A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>
            <a:extLst>
              <a:ext uri="{FF2B5EF4-FFF2-40B4-BE49-F238E27FC236}">
                <a16:creationId xmlns:a16="http://schemas.microsoft.com/office/drawing/2014/main" id="{C653D656-CB04-D78A-6C67-8E001D787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8:notes">
            <a:extLst>
              <a:ext uri="{FF2B5EF4-FFF2-40B4-BE49-F238E27FC236}">
                <a16:creationId xmlns:a16="http://schemas.microsoft.com/office/drawing/2014/main" id="{6530AEE4-71AA-F5BF-35AF-AB7036FED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9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FEBE218-CC16-4494-92DA-8EA2AA0B7660}" type="datetime1">
              <a:rPr lang="en-US" smtClean="0"/>
              <a:t>8/5/2026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BAC552-0FEC-4BD7-A959-A47EBA704E2D}" type="datetime1">
              <a:rPr lang="en-US" smtClean="0"/>
              <a:t>8/5/2026</a:t>
            </a:fld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7A84383-870B-4F16-A167-D5ECB5BF2B3B}" type="datetime1">
              <a:rPr lang="en-US" smtClean="0"/>
              <a:t>8/5/2026</a:t>
            </a:fld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E582853-BD55-467A-86B2-9D1497E0744E}" type="datetime1">
              <a:rPr lang="en-US" smtClean="0"/>
              <a:t>8/5/2026</a:t>
            </a:fld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0569090-7A2F-4233-A9AC-7ACF1C22A6C8}" type="datetime1">
              <a:rPr lang="en-US" smtClean="0"/>
              <a:t>8/5/2026</a:t>
            </a:fld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8F1898B-8184-4AF1-BB83-2102F883D995}" type="datetime1">
              <a:rPr lang="en-US" smtClean="0"/>
              <a:t>8/5/2026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00CD7F9-17EC-441C-8F03-BC681E21EE24}" type="datetime1">
              <a:rPr lang="en-US" smtClean="0"/>
              <a:t>8/5/2026</a:t>
            </a:fld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DFC9064-BCD1-4E1C-B0F0-2385D1EE407F}" type="datetime1">
              <a:rPr lang="en-US" smtClean="0"/>
              <a:t>8/5/2026</a:t>
            </a:fld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4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F462C18-F1DA-4E8A-A9BE-5054330BC623}" type="datetime1">
              <a:rPr lang="en-US" smtClean="0"/>
              <a:t>8/5/2026</a:t>
            </a:fld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1.jpeg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1457D71-D269-443D-BF97-80191549FDA5}" type="datetime1">
              <a:rPr lang="en-US" smtClean="0"/>
              <a:t>8/5/2026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Project Work-II -- BCS786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ctrTitle"/>
          </p:nvPr>
        </p:nvSpPr>
        <p:spPr>
          <a:xfrm>
            <a:off x="274320" y="1285698"/>
            <a:ext cx="11521440" cy="180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>
              <a:buSzPts val="4400"/>
            </a:pPr>
            <a:r>
              <a:rPr lang="en-US" sz="3600" b="1" dirty="0" err="1">
                <a:latin typeface="Palatino Linotype" panose="02040502050505030304" pitchFamily="18" charset="0"/>
                <a:ea typeface="Palatino Linotype"/>
                <a:cs typeface="Arial"/>
              </a:rPr>
              <a:t>Aqualytica</a:t>
            </a:r>
            <a:r>
              <a:rPr lang="en-US" sz="3600" b="1" dirty="0">
                <a:latin typeface="Palatino Linotype" panose="02040502050505030304" pitchFamily="18" charset="0"/>
                <a:ea typeface="Palatino Linotype"/>
                <a:cs typeface="Arial"/>
              </a:rPr>
              <a:t> </a:t>
            </a:r>
            <a:r>
              <a:rPr lang="en-US" sz="3600" b="1" dirty="0">
                <a:latin typeface="Palatino Linotype" panose="02040502050505030304" pitchFamily="18" charset="0"/>
                <a:cs typeface="Arial"/>
              </a:rPr>
              <a:t>: </a:t>
            </a:r>
            <a:r>
              <a:rPr lang="en-US" sz="3600" b="1" dirty="0">
                <a:latin typeface="Palatino Linotype" panose="02040502050505030304" pitchFamily="18" charset="0"/>
              </a:rPr>
              <a:t>AI-Based </a:t>
            </a:r>
            <a:r>
              <a:rPr lang="en-US" sz="3400" b="1" dirty="0">
                <a:latin typeface="Palatino Linotype" panose="02040502050505030304" pitchFamily="18" charset="0"/>
              </a:rPr>
              <a:t>Real-Time</a:t>
            </a:r>
            <a:r>
              <a:rPr lang="en-US" sz="3600" b="1" dirty="0">
                <a:latin typeface="Palatino Linotype" panose="02040502050505030304" pitchFamily="18" charset="0"/>
              </a:rPr>
              <a:t> Water   Contamination Monitoring and Prediction System</a:t>
            </a:r>
            <a:endParaRPr lang="en-US" sz="3600" dirty="0">
              <a:latin typeface="Palatino Linotype" panose="02040502050505030304" pitchFamily="18" charset="0"/>
              <a:cs typeface="Arial"/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Palatino Linotype"/>
              <a:buNone/>
            </a:pPr>
            <a:endParaRPr lang="en-US" sz="4400" dirty="0">
              <a:latin typeface="Palatino Linotype" panose="02040502050505030304" pitchFamily="18" charset="0"/>
              <a:cs typeface="Arial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91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Presented By:</a:t>
            </a:r>
          </a:p>
          <a:p>
            <a:r>
              <a:rPr lang="en-US" dirty="0">
                <a:latin typeface="Palatino Linotype" panose="02040502050505030304" pitchFamily="18" charset="0"/>
              </a:rPr>
              <a:t>Ganesh Prasad (4MW23CS040)</a:t>
            </a:r>
          </a:p>
          <a:p>
            <a:r>
              <a:rPr lang="en-US" dirty="0">
                <a:latin typeface="Palatino Linotype" panose="02040502050505030304" pitchFamily="18" charset="0"/>
              </a:rPr>
              <a:t>Chaithanya Maiya (4MW23CS027)</a:t>
            </a:r>
          </a:p>
          <a:p>
            <a:r>
              <a:rPr lang="en-US" dirty="0">
                <a:latin typeface="Palatino Linotype" panose="02040502050505030304" pitchFamily="18" charset="0"/>
              </a:rPr>
              <a:t>Chirag S Poojary(4MW23CS030)</a:t>
            </a:r>
          </a:p>
          <a:p>
            <a:r>
              <a:rPr lang="en-US" dirty="0">
                <a:latin typeface="Palatino Linotype" panose="02040502050505030304" pitchFamily="18" charset="0"/>
              </a:rPr>
              <a:t>Sneha Ganesh (4MW23CS161)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Palatino Linotype" panose="02040502050505030304" pitchFamily="18" charset="0"/>
              <a:sym typeface="Palatino Linotype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524000" y="474955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Under the Guidance of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                                              Ms. Savitha Shenoy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                                              Assistant Professor(Sr.)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                                                  Dept. of CSE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                                             SMVITM, </a:t>
            </a:r>
            <a:r>
              <a:rPr lang="en-US" sz="2400" dirty="0" err="1">
                <a:latin typeface="Palatino Linotype" panose="02040502050505030304" pitchFamily="18" charset="0"/>
              </a:rPr>
              <a:t>Bantakal</a:t>
            </a:r>
            <a:endParaRPr lang="en-US" sz="2400" dirty="0">
              <a:latin typeface="Palatino Linotype" panose="0204050205050503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2400" b="1" i="0" u="none" strike="noStrike" cap="none" dirty="0">
              <a:solidFill>
                <a:schemeClr val="dk1"/>
              </a:solidFill>
              <a:latin typeface="Palatino Linotype" panose="02040502050505030304" pitchFamily="18" charset="0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7831AA-1A33-747B-6D9F-29087C2D5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22135"/>
            <a:ext cx="12008874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40A5528-70B4-4A16-E7BB-C61EAF50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98512796-344E-E207-3A3D-9ABC07D959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69120"/>
            <a:ext cx="7175090" cy="118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 dirty="0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Problem Statement 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155" name="Google Shape;155;p21">
            <a:extLst>
              <a:ext uri="{FF2B5EF4-FFF2-40B4-BE49-F238E27FC236}">
                <a16:creationId xmlns:a16="http://schemas.microsoft.com/office/drawing/2014/main" id="{CD38A08B-EC7E-D658-7CF8-169AEC55E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0045" y="1609216"/>
            <a:ext cx="10515600" cy="473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400" dirty="0">
                <a:latin typeface="Palatino Linotype" panose="02040502050505030304" pitchFamily="18" charset="0"/>
              </a:rPr>
              <a:t>To develop an intelligent water quality monitoring system that can detect contamination in real time and predict future water quality using IoT sensors and machine learning techniques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pPr marL="114300" indent="0">
              <a:buNone/>
            </a:pPr>
            <a:r>
              <a:rPr lang="en-US" sz="3200" b="1" dirty="0">
                <a:latin typeface="Palatino Linotype" panose="02040502050505030304" pitchFamily="18" charset="0"/>
              </a:rPr>
              <a:t>Project Track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Applied Engineering- Industry-Based Project</a:t>
            </a:r>
          </a:p>
          <a:p>
            <a:pPr marL="342900" algn="just">
              <a:spcBef>
                <a:spcPts val="0"/>
              </a:spcBef>
            </a:pPr>
            <a:endParaRPr lang="en-US" sz="2200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9193FA2C-D135-0B5F-C69B-2E6562C8377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B10A9AB9-82ED-479B-80B5-4E72B0CD933A}" type="datetime1">
              <a:rPr lang="en-US" smtClean="0">
                <a:latin typeface="Palatino Linotype" panose="02040502050505030304" pitchFamily="18" charset="0"/>
                <a:sym typeface="Palatino Linotype"/>
              </a:rPr>
              <a:t>8/5/2026</a:t>
            </a:fld>
            <a:endParaRPr lang="en-US">
              <a:latin typeface="Palatino Linotype" panose="02040502050505030304" pitchFamily="18" charset="0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D6C44ECF-D0A5-6369-6C1C-CBA8B90D0B0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58" name="Google Shape;158;p21">
            <a:extLst>
              <a:ext uri="{FF2B5EF4-FFF2-40B4-BE49-F238E27FC236}">
                <a16:creationId xmlns:a16="http://schemas.microsoft.com/office/drawing/2014/main" id="{53A7C71B-EA2F-E5E0-4F89-E6C2CA425D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2</a:t>
            </a:r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46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3A8218A2-89CC-27B8-AF27-B9835C0A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>
            <a:extLst>
              <a:ext uri="{FF2B5EF4-FFF2-40B4-BE49-F238E27FC236}">
                <a16:creationId xmlns:a16="http://schemas.microsoft.com/office/drawing/2014/main" id="{0EF8B911-B57F-D565-3668-E2EE41E6B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9352"/>
            <a:ext cx="3200400" cy="115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>
                <a:latin typeface="Palatino Linotype"/>
                <a:ea typeface="Palatino Linotype"/>
                <a:cs typeface="Palatino Linotype"/>
                <a:sym typeface="Palatino Linotype"/>
              </a:rPr>
              <a:t>Objectives</a:t>
            </a:r>
            <a:endParaRPr/>
          </a:p>
        </p:txBody>
      </p:sp>
      <p:sp>
        <p:nvSpPr>
          <p:cNvPr id="290" name="Google Shape;290;p36">
            <a:extLst>
              <a:ext uri="{FF2B5EF4-FFF2-40B4-BE49-F238E27FC236}">
                <a16:creationId xmlns:a16="http://schemas.microsoft.com/office/drawing/2014/main" id="{04B97729-2E37-8BB8-A271-7149D6057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213" y="1295581"/>
            <a:ext cx="9963220" cy="461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To develop a system that collects and analyzes water quality data such as pH, turbidity, TDS,</a:t>
            </a:r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, Conductivity ,Nitrate ,Chloride</a:t>
            </a:r>
            <a:r>
              <a:rPr lang="en-US" sz="2400" dirty="0">
                <a:latin typeface="Palatino Linotype" panose="02040502050505030304" pitchFamily="18" charset="0"/>
              </a:rPr>
              <a:t> and temperature .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To implement machine learning algorithms for classification and prediction of water quality.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To detect anomalies in water parameters and provide alerts.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To develop a dashboard for visualization and monitoring. </a:t>
            </a:r>
          </a:p>
          <a:p>
            <a:pPr marL="0" lvl="0" indent="0">
              <a:buNone/>
            </a:pPr>
            <a:endParaRPr lang="en-IN" sz="2400" dirty="0">
              <a:latin typeface="Palatino Linotype" panose="02040502050505030304" pitchFamily="18" charset="0"/>
            </a:endParaRPr>
          </a:p>
        </p:txBody>
      </p:sp>
      <p:sp>
        <p:nvSpPr>
          <p:cNvPr id="291" name="Google Shape;291;p36">
            <a:extLst>
              <a:ext uri="{FF2B5EF4-FFF2-40B4-BE49-F238E27FC236}">
                <a16:creationId xmlns:a16="http://schemas.microsoft.com/office/drawing/2014/main" id="{030A2BA6-AA71-38BE-56C9-A7574E91DC5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A5BB9F93-C47F-4E15-A82D-FE53259D8807}" type="datetime1">
              <a:rPr lang="en-US" smtClean="0">
                <a:latin typeface="Palatino Linotype"/>
                <a:sym typeface="Palatino Linotype"/>
              </a:rPr>
              <a:t>8/5/2026</a:t>
            </a:fld>
            <a:endParaRPr lang="en-US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C1FCB6B9-772A-E1BC-A063-756041C1F56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 lang="en-US"/>
          </a:p>
        </p:txBody>
      </p:sp>
      <p:sp>
        <p:nvSpPr>
          <p:cNvPr id="293" name="Google Shape;293;p36">
            <a:extLst>
              <a:ext uri="{FF2B5EF4-FFF2-40B4-BE49-F238E27FC236}">
                <a16:creationId xmlns:a16="http://schemas.microsoft.com/office/drawing/2014/main" id="{1B825C40-29B5-A351-ECD3-D754601FE0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3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202119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>
                <a:latin typeface="Palatino Linotype"/>
                <a:ea typeface="Palatino Linotype"/>
                <a:cs typeface="Palatino Linotype"/>
                <a:sym typeface="Palatino Linotype"/>
              </a:rPr>
              <a:t>Introduction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838200" y="1386840"/>
            <a:ext cx="10515600" cy="479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Water contamination is a major global issue that affects human health and environmental sustainability. </a:t>
            </a:r>
          </a:p>
          <a:p>
            <a:pPr algn="just"/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Early detection of contamination is important to prevent serious consequences.</a:t>
            </a:r>
          </a:p>
          <a:p>
            <a:pPr algn="just"/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IoT and machine learning enable real-time monitoring and intelligent analysis of water quality. </a:t>
            </a:r>
          </a:p>
          <a:p>
            <a:pPr algn="just"/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These technologies provide predictive insights for the early detection of contamination. </a:t>
            </a:r>
          </a:p>
          <a:p>
            <a:pPr algn="just"/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Water quality is assessed using parameters such as pH, turbidity, total dissolved solids (TDS), temperature, Conductivity ,Nitrate and Chloride. </a:t>
            </a:r>
          </a:p>
          <a:p>
            <a:pPr algn="just"/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Continuous monitoring of these parameters is more efficient than manual methods and helps ensure safe water quality.</a:t>
            </a:r>
          </a:p>
        </p:txBody>
      </p:sp>
      <p:sp>
        <p:nvSpPr>
          <p:cNvPr id="183" name="Google Shape;183;p24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8900484-B0FF-45C3-8F99-951A4ADC36B0}" type="datetime1">
              <a:rPr lang="en-US" smtClean="0">
                <a:latin typeface="Palatino Linotype"/>
                <a:sym typeface="Palatino Linotype"/>
              </a:rPr>
              <a:t>8/5/2026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84" name="Google Shape;184;p24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4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>
          <a:extLst>
            <a:ext uri="{FF2B5EF4-FFF2-40B4-BE49-F238E27FC236}">
              <a16:creationId xmlns:a16="http://schemas.microsoft.com/office/drawing/2014/main" id="{3F1DF188-C93B-58C2-4AF9-F6809757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>
            <a:extLst>
              <a:ext uri="{FF2B5EF4-FFF2-40B4-BE49-F238E27FC236}">
                <a16:creationId xmlns:a16="http://schemas.microsoft.com/office/drawing/2014/main" id="{8000EF84-D5F3-0B54-4374-86833E1E1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>
                <a:latin typeface="Palatino Linotype"/>
                <a:ea typeface="Palatino Linotype"/>
                <a:cs typeface="Palatino Linotype"/>
                <a:sym typeface="Palatino Linotype"/>
              </a:rPr>
              <a:t>Methodology</a:t>
            </a:r>
            <a:endParaRPr/>
          </a:p>
        </p:txBody>
      </p:sp>
      <p:sp>
        <p:nvSpPr>
          <p:cNvPr id="299" name="Google Shape;299;p37">
            <a:extLst>
              <a:ext uri="{FF2B5EF4-FFF2-40B4-BE49-F238E27FC236}">
                <a16:creationId xmlns:a16="http://schemas.microsoft.com/office/drawing/2014/main" id="{953B028C-C9AD-4E5D-E8BB-26D3C54DC1E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6C14EE8-6AA2-4130-B31F-E58629E260A1}" type="datetime1">
              <a:rPr lang="en-US" smtClean="0">
                <a:latin typeface="Palatino Linotype"/>
                <a:sym typeface="Palatino Linotype"/>
              </a:rPr>
              <a:t>8/5/2026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0" name="Google Shape;300;p37">
            <a:extLst>
              <a:ext uri="{FF2B5EF4-FFF2-40B4-BE49-F238E27FC236}">
                <a16:creationId xmlns:a16="http://schemas.microsoft.com/office/drawing/2014/main" id="{195B7B72-8046-A15F-5473-C5369DCA71C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 lang="en-US"/>
          </a:p>
        </p:txBody>
      </p:sp>
      <p:sp>
        <p:nvSpPr>
          <p:cNvPr id="301" name="Google Shape;301;p37">
            <a:extLst>
              <a:ext uri="{FF2B5EF4-FFF2-40B4-BE49-F238E27FC236}">
                <a16:creationId xmlns:a16="http://schemas.microsoft.com/office/drawing/2014/main" id="{908A3EE5-BDE7-CC1F-DAAA-DFCCABBC0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5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C52FA-9BFD-07A9-0311-AA68201F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234440"/>
            <a:ext cx="10881360" cy="548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8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D72E-304E-CE41-10B9-2634E7FD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Methodology</a:t>
            </a:r>
            <a:endParaRPr lang="en-IN" dirty="0">
              <a:latin typeface="Palatino Linotype" panose="020405020505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F5604-F66E-6984-C65C-1FE0C35E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7306"/>
            <a:ext cx="10515600" cy="45796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 A water sample is analyzed by Water Quality Sensors (noted as a future integration), which send their readings to an ESP32 Development Board.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The ESP32 transmits the sensor data to a Spring Boot REST Backend, which acts as the main server routing the information.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 The backend forwards the data to a Python Flask ML Service. Here, a Random Forest Classification algorithm processes the data to output a Prediction &amp; Confidence score regarding the water quality.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 The final predictions are stored in a MySQL Database. A React Dashboard retrieves this data (and potentially real-time data from the prediction step) to display it on the User Interface for the end user.</a:t>
            </a:r>
            <a:endParaRPr lang="en-IN" sz="2400" dirty="0">
              <a:latin typeface="Palatino Linotype" panose="0204050205050503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9DA1B-3317-A709-252F-10499A25BE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8441DD-4F64-4BA9-8C05-8220CD8C6BE2}" type="datetime1">
              <a:rPr lang="en-US" smtClean="0">
                <a:latin typeface="Palatino Linotype" panose="02040502050505030304" pitchFamily="18" charset="0"/>
              </a:rPr>
              <a:t>8/5/2026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8C9FB-BD7A-DB69-E392-94979C0A35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>
                <a:latin typeface="Palatino Linotype" panose="02040502050505030304" pitchFamily="18" charset="0"/>
              </a:rPr>
              <a:t>Project Work-II -- BCS786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38A4F-07E7-15D8-AC16-BE6135CD42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Palatino Linotype" panose="02040502050505030304" pitchFamily="18" charset="0"/>
              </a:rPr>
              <a:t>6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11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>
            <a:spLocks noGrp="1"/>
          </p:cNvSpPr>
          <p:nvPr>
            <p:ph type="title"/>
          </p:nvPr>
        </p:nvSpPr>
        <p:spPr>
          <a:xfrm>
            <a:off x="658761" y="319081"/>
            <a:ext cx="5437239" cy="106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 dirty="0">
                <a:latin typeface="Palatino Linotype"/>
                <a:sym typeface="Palatino Linotype"/>
              </a:rPr>
              <a:t>Results</a:t>
            </a:r>
            <a:endParaRPr dirty="0"/>
          </a:p>
        </p:txBody>
      </p:sp>
      <p:sp>
        <p:nvSpPr>
          <p:cNvPr id="330" name="Google Shape;330;p40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6E8E8D90-B04B-4CC4-9A01-2C1F787B69D3}" type="datetime1">
              <a:rPr lang="en-US" smtClean="0">
                <a:latin typeface="Palatino Linotype"/>
                <a:sym typeface="Palatino Linotype"/>
              </a:rPr>
              <a:t>8/5/2026</a:t>
            </a:fld>
            <a:endParaRPr lang="en-US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1" name="Google Shape;331;p40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 lang="en-US"/>
          </a:p>
        </p:txBody>
      </p:sp>
      <p:sp>
        <p:nvSpPr>
          <p:cNvPr id="332" name="Google Shape;332;p40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7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E08F0C-DB16-4E94-6983-52CCAE17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5" y="1377205"/>
            <a:ext cx="8864580" cy="4796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9B784-8533-2735-C4AB-8F5954F4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alatino Linotype"/>
                <a:sym typeface="Palatino Linotype"/>
              </a:rPr>
              <a:t>Results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D6D3C-0D89-7609-86BB-16B38F16D4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FF935D7-2F9E-4AD1-87AB-D351082A0881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AC397-2B6A-7C8B-5C46-9D4C45D203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Project Work-II -- BCS786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86E40-867F-5FCE-5DE5-F4CE6389A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B69915-032C-7847-6322-9C729FF2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2665"/>
            <a:ext cx="9235440" cy="494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9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>
          <a:extLst>
            <a:ext uri="{FF2B5EF4-FFF2-40B4-BE49-F238E27FC236}">
              <a16:creationId xmlns:a16="http://schemas.microsoft.com/office/drawing/2014/main" id="{60D29B8B-ABBC-0C0D-1B31-845EEF3B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F65C7570-C1C3-4D0B-28C9-AB5D81067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 dirty="0">
                <a:latin typeface="Palatino Linotype" panose="02040502050505030304" pitchFamily="18" charset="0"/>
                <a:sym typeface="Palatino Linotype"/>
              </a:rPr>
              <a:t>Conclusion</a:t>
            </a:r>
            <a:endParaRPr dirty="0">
              <a:latin typeface="Palatino Linotype" panose="0204050205050503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6B562-6DFA-8C7E-A322-B970B9E96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The proposed </a:t>
            </a:r>
            <a:r>
              <a:rPr lang="en-US" sz="2400" b="1" dirty="0" err="1">
                <a:latin typeface="Palatino Linotype" panose="02040502050505030304" pitchFamily="18" charset="0"/>
                <a:ea typeface="Palatino Linotype"/>
                <a:cs typeface="Arial"/>
              </a:rPr>
              <a:t>Aqualytica</a:t>
            </a:r>
            <a:r>
              <a:rPr lang="en-US" sz="2400" dirty="0">
                <a:latin typeface="Palatino Linotype" panose="02040502050505030304" pitchFamily="18" charset="0"/>
              </a:rPr>
              <a:t> system demonstrates how IoT and Artificial Intelligence can be integrated for real-time water quality monitoring and prediction.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By analyzing key parameters such as pH, turbidity, TDS, temperature,</a:t>
            </a:r>
            <a:r>
              <a:rPr lang="en-US" sz="2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, Conductivity ,Nitrate and Chloride,</a:t>
            </a:r>
            <a:r>
              <a:rPr lang="en-US" sz="2400" dirty="0">
                <a:latin typeface="Palatino Linotype" panose="02040502050505030304" pitchFamily="18" charset="0"/>
              </a:rPr>
              <a:t> the system enables early detection of water contamination and supports informed decision-making.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The combination of ESP32, Spring Boot, Python Flask, Random Forest, MySQL, and React provides a scalable and efficient architecture for intelligent monitoring.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Future work includes integrating real-time water quality sensors, improving prediction accuracy with larger datasets, and implementing automated alert and notification systems for practical deployment.</a:t>
            </a:r>
            <a:endParaRPr lang="en-IN" sz="2400" dirty="0">
              <a:latin typeface="Palatino Linotype" panose="02040502050505030304" pitchFamily="18" charset="0"/>
            </a:endParaRPr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C5CE4225-2217-335C-6058-F3450C98CF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75FB9D23-C2AF-4ADD-A849-A7ABE7357445}" type="datetime1">
              <a:rPr lang="en-US" smtClean="0">
                <a:latin typeface="Palatino Linotype" panose="02040502050505030304" pitchFamily="18" charset="0"/>
                <a:sym typeface="Palatino Linotype"/>
              </a:rPr>
              <a:t>8/5/2026</a:t>
            </a:fld>
            <a:endParaRPr lang="en-US">
              <a:latin typeface="Palatino Linotype" panose="02040502050505030304" pitchFamily="18" charset="0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1" name="Google Shape;331;p40">
            <a:extLst>
              <a:ext uri="{FF2B5EF4-FFF2-40B4-BE49-F238E27FC236}">
                <a16:creationId xmlns:a16="http://schemas.microsoft.com/office/drawing/2014/main" id="{73122527-B07D-3345-CDAE-D85E787CE7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32" name="Google Shape;332;p40">
            <a:extLst>
              <a:ext uri="{FF2B5EF4-FFF2-40B4-BE49-F238E27FC236}">
                <a16:creationId xmlns:a16="http://schemas.microsoft.com/office/drawing/2014/main" id="{2803F80A-15A7-005A-ACEC-DE4EFF8B1C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 panose="02040502050505030304" pitchFamily="18" charset="0"/>
                <a:ea typeface="Palatino Linotype"/>
                <a:cs typeface="Palatino Linotype"/>
                <a:sym typeface="Palatino Linotype"/>
              </a:rPr>
              <a:t>9</a:t>
            </a:fld>
            <a:endParaRPr>
              <a:latin typeface="Palatino Linotype" panose="02040502050505030304" pitchFamily="18" charset="0"/>
              <a:ea typeface="Palatino Linotype"/>
              <a:cs typeface="Palatino Linotype"/>
              <a:sym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2105658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E082-DACB-014C-CC4D-FD061E79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19"/>
            <a:ext cx="10515600" cy="1554173"/>
          </a:xfrm>
        </p:spPr>
        <p:txBody>
          <a:bodyPr/>
          <a:lstStyle/>
          <a:p>
            <a:r>
              <a:rPr lang="en-IN" b="1" dirty="0">
                <a:latin typeface="Palatino Linotype" panose="0204050205050503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79869-29D0-EC8F-5F69-30F72984E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713" y="1250066"/>
            <a:ext cx="11184315" cy="50002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[1] S. Tinelli and I. Juran, “Artificial intelligence-based monitoring system of water quality parameters for early detection of contamination,” Water Supply, vol. 19, no. 6, pp. 1785–1795, 2019.</a:t>
            </a:r>
          </a:p>
          <a:p>
            <a:pPr marL="0" indent="0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[2] W. Villegas-Ch, J. García-Ortiz, and S. Sánchez-Viteri, “Toward intelligent monitoring in IoT: AI applications for real-time analysis and prediction,” IEEE Access, vol. 12, pp. 40368–40380, Mar. 2024.</a:t>
            </a:r>
          </a:p>
          <a:p>
            <a:pPr marL="0" indent="0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[3] P. K. </a:t>
            </a:r>
            <a:r>
              <a:rPr lang="en-IN" sz="2200" dirty="0" err="1">
                <a:latin typeface="Palatino Linotype" panose="02040502050505030304" pitchFamily="18" charset="0"/>
              </a:rPr>
              <a:t>Mahapatro</a:t>
            </a:r>
            <a:r>
              <a:rPr lang="en-IN" sz="2200" dirty="0">
                <a:latin typeface="Palatino Linotype" panose="02040502050505030304" pitchFamily="18" charset="0"/>
              </a:rPr>
              <a:t>, R. Panigrahi, and N. </a:t>
            </a:r>
            <a:r>
              <a:rPr lang="en-IN" sz="2200" dirty="0" err="1">
                <a:latin typeface="Palatino Linotype" panose="02040502050505030304" pitchFamily="18" charset="0"/>
              </a:rPr>
              <a:t>Padhy</a:t>
            </a:r>
            <a:r>
              <a:rPr lang="en-IN" sz="2200" dirty="0">
                <a:latin typeface="Palatino Linotype" panose="02040502050505030304" pitchFamily="18" charset="0"/>
              </a:rPr>
              <a:t>, “Integrated IoT and AI systems for real-time multi-nutrient water quality analysis in agriculture,” Engineering Proceedings, MDPI, 2024.</a:t>
            </a:r>
          </a:p>
          <a:p>
            <a:pPr marL="0" indent="0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[4] T. Miller et al., “Integrating artificial intelligence agents with the Internet of Things for enhanced environmental monitoring: Applications in water quality and climate data,” Electronics, vol. 14, no. 696, 2025.</a:t>
            </a:r>
          </a:p>
          <a:p>
            <a:pPr marL="0" indent="0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[5] S. Zou, H. Ju, and J. Zhang, “Water quality management in the age of AI: Applications, challenges, and prospects,” Water, vol. 17, no. 1641, 2025.</a:t>
            </a:r>
          </a:p>
          <a:p>
            <a:pPr marL="0" indent="0">
              <a:buNone/>
            </a:pPr>
            <a:endParaRPr lang="en-IN" sz="2200" dirty="0">
              <a:latin typeface="Palatino Linotype" panose="02040502050505030304" pitchFamily="18" charset="0"/>
            </a:endParaRPr>
          </a:p>
          <a:p>
            <a:pPr marL="114300" indent="0" algn="just">
              <a:buNone/>
            </a:pPr>
            <a:endParaRPr lang="en-US" sz="2200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latin typeface="Palatino Linotype" panose="0204050205050503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0B785-C40B-54C3-1D63-9CBC1D22AD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CC97B40-6DCE-4818-A204-5FCAB2BD3E22}" type="datetime1">
              <a:rPr lang="en-US" smtClean="0">
                <a:latin typeface="Palatino Linotype" panose="02040502050505030304" pitchFamily="18" charset="0"/>
              </a:rPr>
              <a:t>8/5/2026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83BBD-B8F4-220B-F008-E7B09C2376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>
                <a:latin typeface="Palatino Linotype" panose="02040502050505030304" pitchFamily="18" charset="0"/>
              </a:rPr>
              <a:t>Project Work-II -- BCS786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A89E2-C733-E6EB-9D63-E8BA8C6F90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Palatino Linotype" panose="02040502050505030304" pitchFamily="18" charset="0"/>
              </a:rPr>
              <a:t>10</a:t>
            </a:fld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4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>
            <a:spLocks noGrp="1"/>
          </p:cNvSpPr>
          <p:nvPr>
            <p:ph type="title"/>
          </p:nvPr>
        </p:nvSpPr>
        <p:spPr>
          <a:xfrm>
            <a:off x="553064" y="269675"/>
            <a:ext cx="470719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 dirty="0">
                <a:latin typeface="Palatino Linotype"/>
                <a:ea typeface="Palatino Linotype"/>
                <a:cs typeface="Palatino Linotype"/>
                <a:sym typeface="Palatino Linotype"/>
              </a:rPr>
              <a:t>References</a:t>
            </a:r>
            <a:endParaRPr dirty="0"/>
          </a:p>
        </p:txBody>
      </p:sp>
      <p:sp>
        <p:nvSpPr>
          <p:cNvPr id="338" name="Google Shape;338;p41"/>
          <p:cNvSpPr txBox="1">
            <a:spLocks noGrp="1"/>
          </p:cNvSpPr>
          <p:nvPr>
            <p:ph type="body" idx="1"/>
          </p:nvPr>
        </p:nvSpPr>
        <p:spPr>
          <a:xfrm>
            <a:off x="435077" y="1388962"/>
            <a:ext cx="11301651" cy="4967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[6] S. Das et al., “AI and IoT supported sixth generation sensing for water quality assessment to empower sustainable ecosystems,” ACS ES&amp;T Water, 2025.</a:t>
            </a:r>
          </a:p>
          <a:p>
            <a:pPr marL="0" indent="0" algn="just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[7] S. Al-Deen H. Hassan et al., “Using artificial intelligence to predict aquatic pollution: A comprehensive review,” International Journal of Aquatic Biology, vol. 13, no. 5, pp. 50–67, 2025.</a:t>
            </a:r>
          </a:p>
          <a:p>
            <a:pPr marL="0" indent="0" algn="just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[8] M. M. </a:t>
            </a:r>
            <a:r>
              <a:rPr lang="en-IN" sz="2200" dirty="0" err="1">
                <a:latin typeface="Palatino Linotype" panose="02040502050505030304" pitchFamily="18" charset="0"/>
              </a:rPr>
              <a:t>Alwakeel</a:t>
            </a:r>
            <a:r>
              <a:rPr lang="en-IN" sz="2200" dirty="0">
                <a:latin typeface="Palatino Linotype" panose="02040502050505030304" pitchFamily="18" charset="0"/>
              </a:rPr>
              <a:t>, “AI-assisted real-time monitoring of infectious diseases in urban areas,” Mathematics, vol. 13, no. 1911, 2025.</a:t>
            </a:r>
          </a:p>
          <a:p>
            <a:pPr marL="0" indent="0" algn="just">
              <a:buNone/>
            </a:pPr>
            <a:r>
              <a:rPr lang="en-IN" sz="2200" dirty="0">
                <a:latin typeface="Palatino Linotype" panose="02040502050505030304" pitchFamily="18" charset="0"/>
              </a:rPr>
              <a:t>[9] A. </a:t>
            </a:r>
            <a:r>
              <a:rPr lang="en-IN" sz="2200" dirty="0" err="1">
                <a:latin typeface="Palatino Linotype" panose="02040502050505030304" pitchFamily="18" charset="0"/>
              </a:rPr>
              <a:t>Surahmat</a:t>
            </a:r>
            <a:r>
              <a:rPr lang="en-IN" sz="2200" dirty="0">
                <a:latin typeface="Palatino Linotype" panose="02040502050505030304" pitchFamily="18" charset="0"/>
              </a:rPr>
              <a:t> and D. B. R. W. Yato, “AI-based waste detection for water quality monitoring in rivers: A deep learning approach,” Gema </a:t>
            </a:r>
            <a:r>
              <a:rPr lang="en-IN" sz="2200" dirty="0" err="1">
                <a:latin typeface="Palatino Linotype" panose="02040502050505030304" pitchFamily="18" charset="0"/>
              </a:rPr>
              <a:t>Lingkungan</a:t>
            </a:r>
            <a:r>
              <a:rPr lang="en-IN" sz="2200" dirty="0">
                <a:latin typeface="Palatino Linotype" panose="02040502050505030304" pitchFamily="18" charset="0"/>
              </a:rPr>
              <a:t> Kesehatan, vol. 23, no. 3, pp. 333–343, 2025.</a:t>
            </a:r>
          </a:p>
          <a:p>
            <a:pPr marL="0" indent="0" algn="just">
              <a:buNone/>
            </a:pPr>
            <a:r>
              <a:rPr lang="en-IN" sz="2400" dirty="0">
                <a:latin typeface="Palatino Linotype" panose="02040502050505030304" pitchFamily="18" charset="0"/>
              </a:rPr>
              <a:t>[10] P. Rohini, G. R. </a:t>
            </a:r>
            <a:r>
              <a:rPr lang="en-IN" sz="2400" dirty="0" err="1">
                <a:latin typeface="Palatino Linotype" panose="02040502050505030304" pitchFamily="18" charset="0"/>
              </a:rPr>
              <a:t>Kanagachidambaresan</a:t>
            </a:r>
            <a:r>
              <a:rPr lang="en-IN" sz="2400" dirty="0">
                <a:latin typeface="Palatino Linotype" panose="02040502050505030304" pitchFamily="18" charset="0"/>
              </a:rPr>
              <a:t>, and M. Muralidhar, “IoT-enabled real-time monitoring and disease prediction system for sustainable aquaculture,” IEEE Access, vol. 14, pp. 32506–32520, Feb. 2026.</a:t>
            </a:r>
          </a:p>
          <a:p>
            <a:pPr marL="0" indent="0" algn="just">
              <a:buNone/>
            </a:pPr>
            <a:endParaRPr lang="en-IN" sz="2200" dirty="0">
              <a:latin typeface="Palatino Linotype" panose="02040502050505030304" pitchFamily="18" charset="0"/>
            </a:endParaRPr>
          </a:p>
          <a:p>
            <a:pPr marL="0" indent="0" algn="just">
              <a:buNone/>
            </a:pPr>
            <a:endParaRPr lang="en-IN" sz="2200" dirty="0">
              <a:latin typeface="Palatino Linotype" panose="02040502050505030304" pitchFamily="18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alatino Linotype"/>
            </a:endParaRPr>
          </a:p>
        </p:txBody>
      </p:sp>
      <p:sp>
        <p:nvSpPr>
          <p:cNvPr id="339" name="Google Shape;339;p41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BBCB7579-CB41-41B2-A131-DE80D7C63807}" type="datetime1">
              <a:rPr lang="en-US" smtClean="0">
                <a:latin typeface="Palatino Linotype"/>
                <a:sym typeface="Palatino Linotype"/>
              </a:rPr>
              <a:t>8/5/2026</a:t>
            </a:fld>
            <a:endParaRPr lang="en-US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40" name="Google Shape;340;p41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 lang="en-US"/>
          </a:p>
        </p:txBody>
      </p:sp>
      <p:sp>
        <p:nvSpPr>
          <p:cNvPr id="341" name="Google Shape;341;p41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11</a:t>
            </a:fld>
            <a:endParaRPr dirty="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 b="1">
                <a:latin typeface="Palatino Linotype"/>
                <a:ea typeface="Palatino Linotype"/>
                <a:cs typeface="Palatino Linotype"/>
                <a:sym typeface="Palatino Linotype"/>
              </a:rPr>
              <a:t>THANK YOU</a:t>
            </a:r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894FB9A8-6A55-4CF2-9D13-9991C8B8F621}" type="datetime1">
              <a:rPr lang="en-US" smtClean="0">
                <a:latin typeface="Palatino Linotype"/>
                <a:sym typeface="Palatino Linotype"/>
              </a:rPr>
              <a:t>8/5/2026</a:t>
            </a:fld>
            <a:endParaRPr lang="en-US" dirty="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Project Work-II -- BCS786</a:t>
            </a:r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sldNum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12</a:t>
            </a:fld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Microsoft Office PowerPoint</Application>
  <PresentationFormat>Widescreen</PresentationFormat>
  <Paragraphs>92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Theme1</vt:lpstr>
      <vt:lpstr>Aqualytica : AI-Based Real-Time Water   Contamination Monitoring and Prediction System </vt:lpstr>
      <vt:lpstr>Problem Statement </vt:lpstr>
      <vt:lpstr>Objectives</vt:lpstr>
      <vt:lpstr>Introduction</vt:lpstr>
      <vt:lpstr>Methodology</vt:lpstr>
      <vt:lpstr>Methodology</vt:lpstr>
      <vt:lpstr>Results</vt:lpstr>
      <vt:lpstr>Results</vt:lpstr>
      <vt:lpstr>Conclusion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Phase Project Presentation on MedScan Forensics : Identifying digital manipulations in medical imaging</dc:title>
  <dc:creator>ASUS</dc:creator>
  <cp:lastModifiedBy>Chaithanya S Maiya</cp:lastModifiedBy>
  <cp:revision>2</cp:revision>
  <dcterms:modified xsi:type="dcterms:W3CDTF">2026-08-05T03:26:42Z</dcterms:modified>
</cp:coreProperties>
</file>